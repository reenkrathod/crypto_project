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enk Rathod" userId="35a0405dea5f9ce5" providerId="LiveId" clId="{B8AE67D2-DF99-4B0B-AC5F-996DE49FF2D9}"/>
    <pc:docChg chg="modSld">
      <pc:chgData name="Reenk Rathod" userId="35a0405dea5f9ce5" providerId="LiveId" clId="{B8AE67D2-DF99-4B0B-AC5F-996DE49FF2D9}" dt="2026-10-08T18:18:44.045" v="100" actId="20577"/>
      <pc:docMkLst>
        <pc:docMk/>
      </pc:docMkLst>
      <pc:sldChg chg="modSp mod">
        <pc:chgData name="Reenk Rathod" userId="35a0405dea5f9ce5" providerId="LiveId" clId="{B8AE67D2-DF99-4B0B-AC5F-996DE49FF2D9}" dt="2026-10-08T18:18:44.045" v="100" actId="20577"/>
        <pc:sldMkLst>
          <pc:docMk/>
          <pc:sldMk cId="0" sldId="256"/>
        </pc:sldMkLst>
        <pc:spChg chg="mod">
          <ac:chgData name="Reenk Rathod" userId="35a0405dea5f9ce5" providerId="LiveId" clId="{B8AE67D2-DF99-4B0B-AC5F-996DE49FF2D9}" dt="2026-10-08T18:17:52.563" v="54" actId="20577"/>
          <ac:spMkLst>
            <pc:docMk/>
            <pc:sldMk cId="0" sldId="256"/>
            <ac:spMk id="9" creationId="{00000000-0000-0000-0000-000000000000}"/>
          </ac:spMkLst>
        </pc:spChg>
        <pc:spChg chg="mod">
          <ac:chgData name="Reenk Rathod" userId="35a0405dea5f9ce5" providerId="LiveId" clId="{B8AE67D2-DF99-4B0B-AC5F-996DE49FF2D9}" dt="2026-10-08T18:18:41.806" v="99" actId="20577"/>
          <ac:spMkLst>
            <pc:docMk/>
            <pc:sldMk cId="0" sldId="256"/>
            <ac:spMk id="11" creationId="{00000000-0000-0000-0000-000000000000}"/>
          </ac:spMkLst>
        </pc:spChg>
        <pc:spChg chg="mod">
          <ac:chgData name="Reenk Rathod" userId="35a0405dea5f9ce5" providerId="LiveId" clId="{B8AE67D2-DF99-4B0B-AC5F-996DE49FF2D9}" dt="2026-10-08T18:18:44.045" v="100" actId="20577"/>
          <ac:spMkLst>
            <pc:docMk/>
            <pc:sldMk cId="0" sldId="256"/>
            <ac:spMk id="1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731520"/>
            <a:ext cx="10728655" cy="2926080"/>
          </a:xfrm>
          <a:prstGeom prst="roundRect">
            <a:avLst/>
          </a:prstGeom>
          <a:solidFill>
            <a:srgbClr val="1C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05840"/>
            <a:ext cx="5486400" cy="365760"/>
          </a:xfrm>
          <a:prstGeom prst="rect">
            <a:avLst/>
          </a:prstGeom>
          <a:noFill/>
        </p:spPr>
        <p:txBody>
          <a:bodyPr wrap="none">
            <a:spAutoFit/>
          </a:bodyPr>
          <a:lstStyle/>
          <a:p>
            <a:pPr>
              <a:defRPr sz="1200" b="1">
                <a:solidFill>
                  <a:srgbClr val="00B8D9"/>
                </a:solidFill>
              </a:defRPr>
            </a:pPr>
            <a:r>
              <a:t>RESEARCH &amp; IMPLEMENTATION PROJECT</a:t>
            </a:r>
          </a:p>
        </p:txBody>
      </p:sp>
      <p:sp>
        <p:nvSpPr>
          <p:cNvPr id="5" name="TextBox 4"/>
          <p:cNvSpPr txBox="1"/>
          <p:nvPr/>
        </p:nvSpPr>
        <p:spPr>
          <a:xfrm>
            <a:off x="1097280" y="1371600"/>
            <a:ext cx="9966960" cy="1280160"/>
          </a:xfrm>
          <a:prstGeom prst="rect">
            <a:avLst/>
          </a:prstGeom>
          <a:noFill/>
        </p:spPr>
        <p:txBody>
          <a:bodyPr wrap="square">
            <a:spAutoFit/>
          </a:bodyPr>
          <a:lstStyle/>
          <a:p>
            <a:pPr>
              <a:defRPr sz="2800" b="1">
                <a:solidFill>
                  <a:srgbClr val="F5F7FA"/>
                </a:solidFill>
              </a:defRPr>
            </a:pPr>
            <a:r>
              <a:t>A Lightweight Hybrid Consensus Mechanism</a:t>
            </a:r>
            <a:br/>
            <a:r>
              <a:t>for Efficient Blockchain Transactions</a:t>
            </a:r>
          </a:p>
        </p:txBody>
      </p:sp>
      <p:sp>
        <p:nvSpPr>
          <p:cNvPr id="6" name="TextBox 5"/>
          <p:cNvSpPr txBox="1"/>
          <p:nvPr/>
        </p:nvSpPr>
        <p:spPr>
          <a:xfrm>
            <a:off x="1097280" y="2834640"/>
            <a:ext cx="9966960" cy="548640"/>
          </a:xfrm>
          <a:prstGeom prst="rect">
            <a:avLst/>
          </a:prstGeom>
          <a:noFill/>
        </p:spPr>
        <p:txBody>
          <a:bodyPr wrap="none">
            <a:spAutoFit/>
          </a:bodyPr>
          <a:lstStyle/>
          <a:p>
            <a:pPr>
              <a:defRPr sz="1400">
                <a:solidFill>
                  <a:srgbClr val="8C99AF"/>
                </a:solidFill>
              </a:defRPr>
            </a:pPr>
            <a:r>
              <a:t>Course: Cryptocurrency and Technology  |  Adaptive Proof-of-Work Architecture</a:t>
            </a:r>
          </a:p>
        </p:txBody>
      </p:sp>
      <p:sp>
        <p:nvSpPr>
          <p:cNvPr id="7" name="TextBox 6"/>
          <p:cNvSpPr txBox="1"/>
          <p:nvPr/>
        </p:nvSpPr>
        <p:spPr>
          <a:xfrm>
            <a:off x="731520" y="3840480"/>
            <a:ext cx="4572000" cy="365760"/>
          </a:xfrm>
          <a:prstGeom prst="rect">
            <a:avLst/>
          </a:prstGeom>
          <a:noFill/>
        </p:spPr>
        <p:txBody>
          <a:bodyPr wrap="none">
            <a:spAutoFit/>
          </a:bodyPr>
          <a:lstStyle/>
          <a:p>
            <a:pPr>
              <a:defRPr sz="1200" b="1">
                <a:solidFill>
                  <a:srgbClr val="2ECC71"/>
                </a:solidFill>
              </a:defRPr>
            </a:pPr>
            <a:r>
              <a:t>PROJECT TEAM MEMBERS</a:t>
            </a:r>
          </a:p>
        </p:txBody>
      </p:sp>
      <p:sp>
        <p:nvSpPr>
          <p:cNvPr id="8" name="Rounded Rectangle 7"/>
          <p:cNvSpPr/>
          <p:nvPr/>
        </p:nvSpPr>
        <p:spPr>
          <a:xfrm>
            <a:off x="731520" y="4297680"/>
            <a:ext cx="3429000" cy="2011680"/>
          </a:xfrm>
          <a:prstGeom prst="roundRect">
            <a:avLst/>
          </a:prstGeom>
          <a:solidFill>
            <a:srgbClr val="1C2234"/>
          </a:solidFill>
          <a:ln w="19050">
            <a:solidFill>
              <a:srgbClr val="262E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4480560"/>
            <a:ext cx="2971800" cy="656590"/>
          </a:xfrm>
          <a:prstGeom prst="rect">
            <a:avLst/>
          </a:prstGeom>
          <a:noFill/>
        </p:spPr>
        <p:txBody>
          <a:bodyPr wrap="square">
            <a:spAutoFit/>
          </a:bodyPr>
          <a:lstStyle/>
          <a:p>
            <a:pPr>
              <a:defRPr sz="1700" b="1">
                <a:solidFill>
                  <a:srgbClr val="F5F7FA"/>
                </a:solidFill>
              </a:defRPr>
            </a:pPr>
            <a:r>
              <a:rPr dirty="0"/>
              <a:t>👤  </a:t>
            </a:r>
            <a:r>
              <a:rPr lang="en-IN" dirty="0"/>
              <a:t>	Rathod Reenk</a:t>
            </a:r>
            <a:endParaRPr dirty="0"/>
          </a:p>
          <a:p>
            <a:pPr>
              <a:spcBef>
                <a:spcPts val="800"/>
              </a:spcBef>
              <a:defRPr sz="1300">
                <a:solidFill>
                  <a:srgbClr val="00B8D9"/>
                </a:solidFill>
              </a:defRPr>
            </a:pPr>
            <a:r>
              <a:rPr dirty="0"/>
              <a:t>Reg No: </a:t>
            </a:r>
            <a:r>
              <a:rPr lang="en-IN" dirty="0"/>
              <a:t>23BKT0054</a:t>
            </a:r>
            <a:endParaRPr dirty="0"/>
          </a:p>
        </p:txBody>
      </p:sp>
      <p:sp>
        <p:nvSpPr>
          <p:cNvPr id="10" name="Rounded Rectangle 9"/>
          <p:cNvSpPr/>
          <p:nvPr/>
        </p:nvSpPr>
        <p:spPr>
          <a:xfrm>
            <a:off x="4379976" y="4297680"/>
            <a:ext cx="3429000" cy="2011680"/>
          </a:xfrm>
          <a:prstGeom prst="roundRect">
            <a:avLst/>
          </a:prstGeom>
          <a:solidFill>
            <a:srgbClr val="1C2234"/>
          </a:solidFill>
          <a:ln w="19050">
            <a:solidFill>
              <a:srgbClr val="262E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08576" y="4480560"/>
            <a:ext cx="2971800" cy="656590"/>
          </a:xfrm>
          <a:prstGeom prst="rect">
            <a:avLst/>
          </a:prstGeom>
          <a:noFill/>
        </p:spPr>
        <p:txBody>
          <a:bodyPr wrap="square">
            <a:spAutoFit/>
          </a:bodyPr>
          <a:lstStyle/>
          <a:p>
            <a:pPr>
              <a:defRPr sz="1700" b="1">
                <a:solidFill>
                  <a:srgbClr val="F5F7FA"/>
                </a:solidFill>
              </a:defRPr>
            </a:pPr>
            <a:r>
              <a:rPr dirty="0"/>
              <a:t>👤  </a:t>
            </a:r>
            <a:r>
              <a:rPr lang="en-IN" dirty="0"/>
              <a:t>Mitansh Dhawan</a:t>
            </a:r>
            <a:endParaRPr dirty="0"/>
          </a:p>
          <a:p>
            <a:pPr>
              <a:spcBef>
                <a:spcPts val="800"/>
              </a:spcBef>
              <a:defRPr sz="1300">
                <a:solidFill>
                  <a:srgbClr val="00B8D9"/>
                </a:solidFill>
              </a:defRPr>
            </a:pPr>
            <a:r>
              <a:rPr dirty="0"/>
              <a:t>Reg No: </a:t>
            </a:r>
            <a:r>
              <a:rPr lang="en-IN" dirty="0"/>
              <a:t>23BKT0036</a:t>
            </a:r>
            <a:endParaRPr dirty="0"/>
          </a:p>
        </p:txBody>
      </p:sp>
      <p:sp>
        <p:nvSpPr>
          <p:cNvPr id="12" name="Rounded Rectangle 11"/>
          <p:cNvSpPr/>
          <p:nvPr/>
        </p:nvSpPr>
        <p:spPr>
          <a:xfrm>
            <a:off x="8028432" y="4297680"/>
            <a:ext cx="3429000" cy="2011680"/>
          </a:xfrm>
          <a:prstGeom prst="roundRect">
            <a:avLst/>
          </a:prstGeom>
          <a:solidFill>
            <a:srgbClr val="1C2234"/>
          </a:solidFill>
          <a:ln w="19050">
            <a:solidFill>
              <a:srgbClr val="262E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7032" y="4480560"/>
            <a:ext cx="2971800" cy="656590"/>
          </a:xfrm>
          <a:prstGeom prst="rect">
            <a:avLst/>
          </a:prstGeom>
          <a:noFill/>
        </p:spPr>
        <p:txBody>
          <a:bodyPr wrap="square">
            <a:spAutoFit/>
          </a:bodyPr>
          <a:lstStyle/>
          <a:p>
            <a:pPr>
              <a:defRPr sz="1700" b="1">
                <a:solidFill>
                  <a:srgbClr val="F5F7FA"/>
                </a:solidFill>
              </a:defRPr>
            </a:pPr>
            <a:r>
              <a:rPr dirty="0"/>
              <a:t>👤  </a:t>
            </a:r>
            <a:r>
              <a:rPr lang="en-IN" dirty="0"/>
              <a:t>Aditya</a:t>
            </a:r>
            <a:endParaRPr dirty="0"/>
          </a:p>
          <a:p>
            <a:pPr>
              <a:spcBef>
                <a:spcPts val="800"/>
              </a:spcBef>
              <a:defRPr sz="1300">
                <a:solidFill>
                  <a:srgbClr val="00B8D9"/>
                </a:solidFill>
              </a:defRPr>
            </a:pPr>
            <a:r>
              <a:rPr dirty="0"/>
              <a:t>Reg No: </a:t>
            </a:r>
            <a:r>
              <a:rPr lang="en-IN" dirty="0"/>
              <a:t>23BKT0147</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B8D9"/>
                </a:solidFill>
              </a:defRPr>
            </a:pPr>
            <a:r>
              <a:t>CRYPTOCURRENCY &amp; BLOCKCHAIN TECHNOLOGY</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F5F7FA"/>
                </a:solidFill>
              </a:defRPr>
            </a:pPr>
            <a:r>
              <a:t>Project Description &amp; Core Philosophy</a:t>
            </a:r>
          </a:p>
        </p:txBody>
      </p:sp>
      <p:sp>
        <p:nvSpPr>
          <p:cNvPr id="5" name="Rectangle 4"/>
          <p:cNvSpPr/>
          <p:nvPr/>
        </p:nvSpPr>
        <p:spPr>
          <a:xfrm>
            <a:off x="731520" y="1280160"/>
            <a:ext cx="10728655" cy="18288"/>
          </a:xfrm>
          <a:prstGeom prst="rect">
            <a:avLst/>
          </a:prstGeom>
          <a:solidFill>
            <a:srgbClr val="26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212080" cy="4937760"/>
          </a:xfrm>
          <a:prstGeom prst="roundRect">
            <a:avLst/>
          </a:prstGeom>
          <a:solidFill>
            <a:srgbClr val="1C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45920"/>
            <a:ext cx="4846320" cy="4572000"/>
          </a:xfrm>
          <a:prstGeom prst="rect">
            <a:avLst/>
          </a:prstGeom>
          <a:noFill/>
        </p:spPr>
        <p:txBody>
          <a:bodyPr wrap="square">
            <a:spAutoFit/>
          </a:bodyPr>
          <a:lstStyle/>
          <a:p>
            <a:pPr>
              <a:defRPr sz="1800" b="1">
                <a:solidFill>
                  <a:srgbClr val="2ECC71"/>
                </a:solidFill>
              </a:defRPr>
            </a:pPr>
            <a:r>
              <a:t>Executive Summary</a:t>
            </a:r>
          </a:p>
          <a:p>
            <a:pPr>
              <a:spcBef>
                <a:spcPts val="1400"/>
              </a:spcBef>
            </a:pPr>
            <a:r>
              <a:rPr sz="1300" b="1">
                <a:solidFill>
                  <a:srgbClr val="F5F7FA"/>
                </a:solidFill>
              </a:rPr>
              <a:t>Core Hypothesis: </a:t>
            </a:r>
            <a:r>
              <a:rPr sz="1300">
                <a:solidFill>
                  <a:srgbClr val="D2DAE6"/>
                </a:solidFill>
              </a:rPr>
              <a:t>Consensus mechanisms in decentralized ledgers should adapt dynamically to the computational requirements of transactions instead of forcing a rigid, uniform proof-of-work across every block.</a:t>
            </a:r>
          </a:p>
          <a:p>
            <a:pPr>
              <a:spcBef>
                <a:spcPts val="1400"/>
              </a:spcBef>
            </a:pPr>
            <a:r>
              <a:rPr sz="1300" b="1">
                <a:solidFill>
                  <a:srgbClr val="F5F7FA"/>
                </a:solidFill>
              </a:rPr>
              <a:t>Key Innovation: </a:t>
            </a:r>
            <a:r>
              <a:rPr sz="1300">
                <a:solidFill>
                  <a:srgbClr val="D2DAE6"/>
                </a:solidFill>
              </a:rPr>
              <a:t>We introduce an Adaptive Hybrid Consensus Engine that evaluates incoming transaction batches and dynamically sets mining difficulty based on transaction value and priority.</a:t>
            </a:r>
          </a:p>
          <a:p>
            <a:pPr>
              <a:spcBef>
                <a:spcPts val="1400"/>
              </a:spcBef>
            </a:pPr>
            <a:r>
              <a:rPr sz="1300" b="1">
                <a:solidFill>
                  <a:srgbClr val="F5F7FA"/>
                </a:solidFill>
              </a:rPr>
              <a:t>Security Integrity: </a:t>
            </a:r>
            <a:r>
              <a:rPr sz="1300">
                <a:solidFill>
                  <a:srgbClr val="D2DAE6"/>
                </a:solidFill>
              </a:rPr>
              <a:t>Transactions remain 100% cryptographically secure, serialized, and linked via immutable SHA-256 hash chains. Only the computational hardness adapts.</a:t>
            </a:r>
          </a:p>
        </p:txBody>
      </p:sp>
      <p:sp>
        <p:nvSpPr>
          <p:cNvPr id="8" name="Rounded Rectangle 7"/>
          <p:cNvSpPr/>
          <p:nvPr/>
        </p:nvSpPr>
        <p:spPr>
          <a:xfrm>
            <a:off x="6217920" y="1463040"/>
            <a:ext cx="5212080" cy="1463040"/>
          </a:xfrm>
          <a:prstGeom prst="roundRect">
            <a:avLst/>
          </a:prstGeom>
          <a:solidFill>
            <a:srgbClr val="1C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600200"/>
            <a:ext cx="4846320" cy="1188720"/>
          </a:xfrm>
          <a:prstGeom prst="rect">
            <a:avLst/>
          </a:prstGeom>
          <a:noFill/>
        </p:spPr>
        <p:txBody>
          <a:bodyPr wrap="square">
            <a:spAutoFit/>
          </a:bodyPr>
          <a:lstStyle/>
          <a:p>
            <a:pPr>
              <a:defRPr sz="1500" b="1">
                <a:solidFill>
                  <a:srgbClr val="00B8D9"/>
                </a:solidFill>
              </a:defRPr>
            </a:pPr>
            <a:r>
              <a:t>⚡ High Throughput for Micropayments</a:t>
            </a:r>
          </a:p>
          <a:p>
            <a:pPr>
              <a:spcBef>
                <a:spcPts val="600"/>
              </a:spcBef>
              <a:defRPr sz="1200">
                <a:solidFill>
                  <a:srgbClr val="D2DAE6"/>
                </a:solidFill>
              </a:defRPr>
            </a:pPr>
            <a:r>
              <a:t>Everyday retail transactions (₹10–₹100) are processed through lightweight PoW, slashing latency and enabling instantaneous confirmations.</a:t>
            </a:r>
          </a:p>
        </p:txBody>
      </p:sp>
      <p:sp>
        <p:nvSpPr>
          <p:cNvPr id="10" name="Rounded Rectangle 9"/>
          <p:cNvSpPr/>
          <p:nvPr/>
        </p:nvSpPr>
        <p:spPr>
          <a:xfrm>
            <a:off x="6217920" y="3108960"/>
            <a:ext cx="5212080" cy="1463040"/>
          </a:xfrm>
          <a:prstGeom prst="roundRect">
            <a:avLst/>
          </a:prstGeom>
          <a:solidFill>
            <a:srgbClr val="1C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3246120"/>
            <a:ext cx="4846320" cy="1188720"/>
          </a:xfrm>
          <a:prstGeom prst="rect">
            <a:avLst/>
          </a:prstGeom>
          <a:noFill/>
        </p:spPr>
        <p:txBody>
          <a:bodyPr wrap="square">
            <a:spAutoFit/>
          </a:bodyPr>
          <a:lstStyle/>
          <a:p>
            <a:pPr>
              <a:defRPr sz="1500" b="1">
                <a:solidFill>
                  <a:srgbClr val="00B8D9"/>
                </a:solidFill>
              </a:defRPr>
            </a:pPr>
            <a:r>
              <a:t>🛡️ Heavyweight Security for Critical Value</a:t>
            </a:r>
          </a:p>
          <a:p>
            <a:pPr>
              <a:spcBef>
                <a:spcPts val="600"/>
              </a:spcBef>
              <a:defRPr sz="1200">
                <a:solidFill>
                  <a:srgbClr val="D2DAE6"/>
                </a:solidFill>
              </a:defRPr>
            </a:pPr>
            <a:r>
              <a:t>High-value settlements and smart-contract executions automatically trigger elevated difficulty to ensure robust resistance against double-spending.</a:t>
            </a:r>
          </a:p>
        </p:txBody>
      </p:sp>
      <p:sp>
        <p:nvSpPr>
          <p:cNvPr id="12" name="Rounded Rectangle 11"/>
          <p:cNvSpPr/>
          <p:nvPr/>
        </p:nvSpPr>
        <p:spPr>
          <a:xfrm>
            <a:off x="6217920" y="4754880"/>
            <a:ext cx="5212080" cy="1463040"/>
          </a:xfrm>
          <a:prstGeom prst="roundRect">
            <a:avLst/>
          </a:prstGeom>
          <a:solidFill>
            <a:srgbClr val="1C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4892040"/>
            <a:ext cx="4846320" cy="1188720"/>
          </a:xfrm>
          <a:prstGeom prst="rect">
            <a:avLst/>
          </a:prstGeom>
          <a:noFill/>
        </p:spPr>
        <p:txBody>
          <a:bodyPr wrap="square">
            <a:spAutoFit/>
          </a:bodyPr>
          <a:lstStyle/>
          <a:p>
            <a:pPr>
              <a:defRPr sz="1500" b="1">
                <a:solidFill>
                  <a:srgbClr val="00B8D9"/>
                </a:solidFill>
              </a:defRPr>
            </a:pPr>
            <a:r>
              <a:t>🌱 Computational &amp; Energy Efficiency</a:t>
            </a:r>
          </a:p>
          <a:p>
            <a:pPr>
              <a:spcBef>
                <a:spcPts val="600"/>
              </a:spcBef>
              <a:defRPr sz="1200">
                <a:solidFill>
                  <a:srgbClr val="D2DAE6"/>
                </a:solidFill>
              </a:defRPr>
            </a:pPr>
            <a:r>
              <a:t>Eliminates pointless brute-force hashing on low-stakes transactions, drastically lowering mining CPU cycles and power consumption.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B8D9"/>
                </a:solidFill>
              </a:defRPr>
            </a:pPr>
            <a:r>
              <a:t>CRYPTOCURRENCY &amp; BLOCKCHAIN TECHNOLOGY</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F5F7FA"/>
                </a:solidFill>
              </a:defRPr>
            </a:pPr>
            <a:r>
              <a:t>Problem Statement: The Uniform PoW Dilemma</a:t>
            </a:r>
          </a:p>
        </p:txBody>
      </p:sp>
      <p:sp>
        <p:nvSpPr>
          <p:cNvPr id="5" name="Rectangle 4"/>
          <p:cNvSpPr/>
          <p:nvPr/>
        </p:nvSpPr>
        <p:spPr>
          <a:xfrm>
            <a:off x="731520" y="1280160"/>
            <a:ext cx="10728655" cy="18288"/>
          </a:xfrm>
          <a:prstGeom prst="rect">
            <a:avLst/>
          </a:prstGeom>
          <a:solidFill>
            <a:srgbClr val="26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257800" cy="2286000"/>
          </a:xfrm>
          <a:prstGeom prst="roundRect">
            <a:avLst/>
          </a:prstGeom>
          <a:solidFill>
            <a:srgbClr val="1C2234"/>
          </a:solidFill>
          <a:ln w="19050">
            <a:solidFill>
              <a:srgbClr val="262E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45920"/>
            <a:ext cx="4892040" cy="1920240"/>
          </a:xfrm>
          <a:prstGeom prst="rect">
            <a:avLst/>
          </a:prstGeom>
          <a:noFill/>
        </p:spPr>
        <p:txBody>
          <a:bodyPr wrap="square">
            <a:spAutoFit/>
          </a:bodyPr>
          <a:lstStyle/>
          <a:p>
            <a:pPr>
              <a:defRPr sz="1600" b="1">
                <a:solidFill>
                  <a:srgbClr val="E74C3C"/>
                </a:solidFill>
              </a:defRPr>
            </a:pPr>
            <a:r>
              <a:t>1. Computational Waste &amp; Energy Inefficiency</a:t>
            </a:r>
          </a:p>
          <a:p>
            <a:pPr>
              <a:spcBef>
                <a:spcPts val="800"/>
              </a:spcBef>
              <a:defRPr sz="1200">
                <a:solidFill>
                  <a:srgbClr val="D2DAE6"/>
                </a:solidFill>
              </a:defRPr>
            </a:pPr>
            <a:r>
              <a:t>Traditional Proof-of-Work (PoW) protocols impose a uniform, static difficulty target across every block. Mincing millions of useless SHA-256 hashes for trivial micropayments squanders computational power and electrical energy without practical security benefits.</a:t>
            </a:r>
          </a:p>
        </p:txBody>
      </p:sp>
      <p:sp>
        <p:nvSpPr>
          <p:cNvPr id="8" name="Rounded Rectangle 7"/>
          <p:cNvSpPr/>
          <p:nvPr/>
        </p:nvSpPr>
        <p:spPr>
          <a:xfrm>
            <a:off x="6172200" y="1463040"/>
            <a:ext cx="5257800" cy="2286000"/>
          </a:xfrm>
          <a:prstGeom prst="roundRect">
            <a:avLst/>
          </a:prstGeom>
          <a:solidFill>
            <a:srgbClr val="1C2234"/>
          </a:solidFill>
          <a:ln w="19050">
            <a:solidFill>
              <a:srgbClr val="262E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1645920"/>
            <a:ext cx="4892040" cy="1920240"/>
          </a:xfrm>
          <a:prstGeom prst="rect">
            <a:avLst/>
          </a:prstGeom>
          <a:noFill/>
        </p:spPr>
        <p:txBody>
          <a:bodyPr wrap="square">
            <a:spAutoFit/>
          </a:bodyPr>
          <a:lstStyle/>
          <a:p>
            <a:pPr>
              <a:defRPr sz="1600" b="1">
                <a:solidFill>
                  <a:srgbClr val="E74C3C"/>
                </a:solidFill>
              </a:defRPr>
            </a:pPr>
            <a:r>
              <a:t>2. Transaction Bottlenecks &amp; High Latency</a:t>
            </a:r>
          </a:p>
          <a:p>
            <a:pPr>
              <a:spcBef>
                <a:spcPts val="800"/>
              </a:spcBef>
              <a:defRPr sz="1200">
                <a:solidFill>
                  <a:srgbClr val="D2DAE6"/>
                </a:solidFill>
              </a:defRPr>
            </a:pPr>
            <a:r>
              <a:t>Because every block is throttled by the same heavy cryptographic difficulty, transactions experience long confirmation queues. Users making minor retail payments suffer the exact same wait times as institutional fund transfers.</a:t>
            </a:r>
          </a:p>
        </p:txBody>
      </p:sp>
      <p:sp>
        <p:nvSpPr>
          <p:cNvPr id="10" name="Rounded Rectangle 9"/>
          <p:cNvSpPr/>
          <p:nvPr/>
        </p:nvSpPr>
        <p:spPr>
          <a:xfrm>
            <a:off x="731520" y="3931920"/>
            <a:ext cx="5257800" cy="2286000"/>
          </a:xfrm>
          <a:prstGeom prst="roundRect">
            <a:avLst/>
          </a:prstGeom>
          <a:solidFill>
            <a:srgbClr val="1C2234"/>
          </a:solidFill>
          <a:ln w="19050">
            <a:solidFill>
              <a:srgbClr val="262E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114800"/>
            <a:ext cx="4892040" cy="1920240"/>
          </a:xfrm>
          <a:prstGeom prst="rect">
            <a:avLst/>
          </a:prstGeom>
          <a:noFill/>
        </p:spPr>
        <p:txBody>
          <a:bodyPr wrap="square">
            <a:spAutoFit/>
          </a:bodyPr>
          <a:lstStyle/>
          <a:p>
            <a:pPr>
              <a:defRPr sz="1600" b="1">
                <a:solidFill>
                  <a:srgbClr val="E74C3C"/>
                </a:solidFill>
              </a:defRPr>
            </a:pPr>
            <a:r>
              <a:t>3. Poor Scalability &amp; Limited Throughput</a:t>
            </a:r>
          </a:p>
          <a:p>
            <a:pPr>
              <a:spcBef>
                <a:spcPts val="800"/>
              </a:spcBef>
              <a:defRPr sz="1200">
                <a:solidFill>
                  <a:srgbClr val="D2DAE6"/>
                </a:solidFill>
              </a:defRPr>
            </a:pPr>
            <a:r>
              <a:t>Fixed high-difficulty PoW severely limits transaction throughput (tx/s). As transaction load surges, the computational barrier causes exponential backlog and network congestion, preventing widespread blockchain adoption for retail payments.</a:t>
            </a:r>
          </a:p>
        </p:txBody>
      </p:sp>
      <p:sp>
        <p:nvSpPr>
          <p:cNvPr id="12" name="Rounded Rectangle 11"/>
          <p:cNvSpPr/>
          <p:nvPr/>
        </p:nvSpPr>
        <p:spPr>
          <a:xfrm>
            <a:off x="6172200" y="3931920"/>
            <a:ext cx="5257800" cy="2286000"/>
          </a:xfrm>
          <a:prstGeom prst="roundRect">
            <a:avLst/>
          </a:prstGeom>
          <a:solidFill>
            <a:srgbClr val="1C2234"/>
          </a:solidFill>
          <a:ln w="19050">
            <a:solidFill>
              <a:srgbClr val="262E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4114800"/>
            <a:ext cx="4892040" cy="1920240"/>
          </a:xfrm>
          <a:prstGeom prst="rect">
            <a:avLst/>
          </a:prstGeom>
          <a:noFill/>
        </p:spPr>
        <p:txBody>
          <a:bodyPr wrap="square">
            <a:spAutoFit/>
          </a:bodyPr>
          <a:lstStyle/>
          <a:p>
            <a:pPr>
              <a:defRPr sz="1600" b="1">
                <a:solidFill>
                  <a:srgbClr val="E74C3C"/>
                </a:solidFill>
              </a:defRPr>
            </a:pPr>
            <a:r>
              <a:t>4. Lack of Transaction Priority Awareness</a:t>
            </a:r>
          </a:p>
          <a:p>
            <a:pPr>
              <a:spcBef>
                <a:spcPts val="800"/>
              </a:spcBef>
              <a:defRPr sz="1200">
                <a:solidFill>
                  <a:srgbClr val="D2DAE6"/>
                </a:solidFill>
              </a:defRPr>
            </a:pPr>
            <a:r>
              <a:t>Existing Layer-1 blockchains treat a ₹10 coffee payment and a ₹10,00,000 corporate settlement as computationally identical, lacking granular mechanisms to dynamically align consensus hardness with economic risk.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B8D9"/>
                </a:solidFill>
              </a:defRPr>
            </a:pPr>
            <a:r>
              <a:t>CRYPTOCURRENCY &amp; BLOCKCHAIN TECHNOLOGY</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F5F7FA"/>
                </a:solidFill>
              </a:defRPr>
            </a:pPr>
            <a:r>
              <a:t>Proposed Solution: Adaptive Hybrid Consensus Engine</a:t>
            </a:r>
          </a:p>
        </p:txBody>
      </p:sp>
      <p:sp>
        <p:nvSpPr>
          <p:cNvPr id="5" name="Rectangle 4"/>
          <p:cNvSpPr/>
          <p:nvPr/>
        </p:nvSpPr>
        <p:spPr>
          <a:xfrm>
            <a:off x="731520" y="1280160"/>
            <a:ext cx="10728655" cy="18288"/>
          </a:xfrm>
          <a:prstGeom prst="rect">
            <a:avLst/>
          </a:prstGeom>
          <a:solidFill>
            <a:srgbClr val="26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6217920" cy="4937760"/>
          </a:xfrm>
          <a:prstGeom prst="roundRect">
            <a:avLst/>
          </a:prstGeom>
          <a:solidFill>
            <a:srgbClr val="1C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45920"/>
            <a:ext cx="5852160" cy="4572000"/>
          </a:xfrm>
          <a:prstGeom prst="rect">
            <a:avLst/>
          </a:prstGeom>
          <a:noFill/>
        </p:spPr>
        <p:txBody>
          <a:bodyPr wrap="square">
            <a:spAutoFit/>
          </a:bodyPr>
          <a:lstStyle/>
          <a:p>
            <a:pPr>
              <a:defRPr sz="1800" b="1">
                <a:solidFill>
                  <a:srgbClr val="2ECC71"/>
                </a:solidFill>
              </a:defRPr>
            </a:pPr>
            <a:r>
              <a:t>How Adaptive Consensus Works</a:t>
            </a:r>
          </a:p>
          <a:p>
            <a:pPr>
              <a:spcBef>
                <a:spcPts val="1000"/>
              </a:spcBef>
            </a:pPr>
            <a:r>
              <a:rPr sz="1200" b="1">
                <a:solidFill>
                  <a:srgbClr val="00B8D9"/>
                </a:solidFill>
              </a:rPr>
              <a:t>Step 1 — Transaction Categorization: </a:t>
            </a:r>
            <a:r>
              <a:rPr sz="1200">
                <a:solidFill>
                  <a:srgbClr val="D2DAE6"/>
                </a:solidFill>
              </a:rPr>
              <a:t>Incoming transactions are labeled 'lightweight' (small amounts / micropayments) or 'strong' (high-value transfers / smart contracts).</a:t>
            </a:r>
          </a:p>
          <a:p>
            <a:pPr>
              <a:spcBef>
                <a:spcPts val="1000"/>
              </a:spcBef>
            </a:pPr>
            <a:r>
              <a:rPr sz="1200" b="1">
                <a:solidFill>
                  <a:srgbClr val="00B8D9"/>
                </a:solidFill>
              </a:rPr>
              <a:t>Step 2 — Batch Inspection: </a:t>
            </a:r>
            <a:r>
              <a:rPr sz="1200">
                <a:solidFill>
                  <a:srgbClr val="D2DAE6"/>
                </a:solidFill>
              </a:rPr>
              <a:t>When packaging a block (e.g., 10 transactions), the hybrid consensus engine inspects the transaction mix.</a:t>
            </a:r>
          </a:p>
          <a:p>
            <a:pPr>
              <a:spcBef>
                <a:spcPts val="1000"/>
              </a:spcBef>
            </a:pPr>
            <a:r>
              <a:rPr sz="1200" b="1">
                <a:solidFill>
                  <a:srgbClr val="00B8D9"/>
                </a:solidFill>
              </a:rPr>
              <a:t>Step 3 — Dynamic Difficulty Assignment: </a:t>
            </a:r>
            <a:r>
              <a:rPr sz="1200">
                <a:solidFill>
                  <a:srgbClr val="D2DAE6"/>
                </a:solidFill>
              </a:rPr>
              <a:t>• If ALL transactions are lightweight -&gt; Assign light difficulty (e.g., 1–2 hex zeros).
• If ANY transaction is strong -&gt; Elevate to strong difficulty (e.g., 3–4 hex zeros).</a:t>
            </a:r>
          </a:p>
          <a:p>
            <a:pPr>
              <a:spcBef>
                <a:spcPts val="1000"/>
              </a:spcBef>
            </a:pPr>
            <a:r>
              <a:rPr sz="1200" b="1">
                <a:solidFill>
                  <a:srgbClr val="00B8D9"/>
                </a:solidFill>
              </a:rPr>
              <a:t>Step 4 — Nonce Discovery &amp; Verification: </a:t>
            </a:r>
            <a:r>
              <a:rPr sz="1200">
                <a:solidFill>
                  <a:srgbClr val="D2DAE6"/>
                </a:solidFill>
              </a:rPr>
              <a:t>The miner solves the block header at the selected difficulty. The block is cryptographically linked to the preceding block and validated across the network.</a:t>
            </a:r>
          </a:p>
        </p:txBody>
      </p:sp>
      <p:sp>
        <p:nvSpPr>
          <p:cNvPr id="8" name="Rounded Rectangle 7"/>
          <p:cNvSpPr/>
          <p:nvPr/>
        </p:nvSpPr>
        <p:spPr>
          <a:xfrm>
            <a:off x="7132320" y="1463040"/>
            <a:ext cx="4297680" cy="4937760"/>
          </a:xfrm>
          <a:prstGeom prst="roundRect">
            <a:avLst/>
          </a:prstGeom>
          <a:solidFill>
            <a:srgbClr val="1C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0" y="1645920"/>
            <a:ext cx="3931920" cy="4572000"/>
          </a:xfrm>
          <a:prstGeom prst="rect">
            <a:avLst/>
          </a:prstGeom>
          <a:noFill/>
        </p:spPr>
        <p:txBody>
          <a:bodyPr wrap="square">
            <a:spAutoFit/>
          </a:bodyPr>
          <a:lstStyle/>
          <a:p>
            <a:pPr>
              <a:defRPr sz="1800" b="1">
                <a:solidFill>
                  <a:srgbClr val="F5F7FA"/>
                </a:solidFill>
              </a:defRPr>
            </a:pPr>
            <a:r>
              <a:t>Architectural Comparison</a:t>
            </a:r>
          </a:p>
          <a:p>
            <a:pPr>
              <a:spcBef>
                <a:spcPts val="1200"/>
              </a:spcBef>
              <a:defRPr sz="1100">
                <a:solidFill>
                  <a:srgbClr val="D2DAE6"/>
                </a:solidFill>
              </a:defRPr>
            </a:pPr>
            <a:r>
              <a:t>• Baseline: Baseline (Uniform PoW)</a:t>
            </a:r>
            <a:br/>
            <a:r>
              <a:t>  ➜ Proposed: Proposed Hybrid PoW</a:t>
            </a:r>
          </a:p>
          <a:p>
            <a:pPr>
              <a:spcBef>
                <a:spcPts val="1200"/>
              </a:spcBef>
              <a:defRPr sz="1100">
                <a:solidFill>
                  <a:srgbClr val="D2DAE6"/>
                </a:solidFill>
              </a:defRPr>
            </a:pPr>
            <a:r>
              <a:t>• Baseline: Fixed difficulty for 100% of blocks</a:t>
            </a:r>
            <a:br/>
            <a:r>
              <a:t>  ➜ Proposed: Adaptive difficulty per block content</a:t>
            </a:r>
          </a:p>
          <a:p>
            <a:pPr>
              <a:spcBef>
                <a:spcPts val="1200"/>
              </a:spcBef>
              <a:defRPr sz="1100">
                <a:solidFill>
                  <a:srgbClr val="D2DAE6"/>
                </a:solidFill>
              </a:defRPr>
            </a:pPr>
            <a:r>
              <a:t>• Baseline: High computational cost on micro-txs</a:t>
            </a:r>
            <a:br/>
            <a:r>
              <a:t>  ➜ Proposed: Sub-second, low-hash mining on micro-txs</a:t>
            </a:r>
          </a:p>
          <a:p>
            <a:pPr>
              <a:spcBef>
                <a:spcPts val="1200"/>
              </a:spcBef>
              <a:defRPr sz="1100">
                <a:solidFill>
                  <a:srgbClr val="D2DAE6"/>
                </a:solidFill>
              </a:defRPr>
            </a:pPr>
            <a:r>
              <a:t>• Baseline: Low average throughput (tx/s)</a:t>
            </a:r>
            <a:br/>
            <a:r>
              <a:t>  ➜ Proposed: Multi-fold throughput increase</a:t>
            </a:r>
          </a:p>
          <a:p>
            <a:pPr>
              <a:spcBef>
                <a:spcPts val="1200"/>
              </a:spcBef>
              <a:defRPr sz="1100">
                <a:solidFill>
                  <a:srgbClr val="D2DAE6"/>
                </a:solidFill>
              </a:defRPr>
            </a:pPr>
            <a:r>
              <a:t>• Baseline: Identical SHA-256 Ledger Integrity</a:t>
            </a:r>
            <a:br/>
            <a:r>
              <a:t>  ➜ Proposed: Identical SHA-256 Ledger Integrity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B8D9"/>
                </a:solidFill>
              </a:defRPr>
            </a:pPr>
            <a:r>
              <a:t>CRYPTOCURRENCY &amp; BLOCKCHAIN TECHNOLOGY</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F5F7FA"/>
                </a:solidFill>
              </a:defRPr>
            </a:pPr>
            <a:r>
              <a:t>System Architecture &amp; Execution Pipeline</a:t>
            </a:r>
          </a:p>
        </p:txBody>
      </p:sp>
      <p:sp>
        <p:nvSpPr>
          <p:cNvPr id="5" name="Rectangle 4"/>
          <p:cNvSpPr/>
          <p:nvPr/>
        </p:nvSpPr>
        <p:spPr>
          <a:xfrm>
            <a:off x="731520" y="1280160"/>
            <a:ext cx="10728655" cy="18288"/>
          </a:xfrm>
          <a:prstGeom prst="rect">
            <a:avLst/>
          </a:prstGeom>
          <a:solidFill>
            <a:srgbClr val="26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2560320" cy="4937760"/>
          </a:xfrm>
          <a:prstGeom prst="roundRect">
            <a:avLst/>
          </a:prstGeom>
          <a:solidFill>
            <a:srgbClr val="1C2234"/>
          </a:solidFill>
          <a:ln w="19050">
            <a:solidFill>
              <a:srgbClr val="262E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645920"/>
            <a:ext cx="2286000" cy="4572000"/>
          </a:xfrm>
          <a:prstGeom prst="rect">
            <a:avLst/>
          </a:prstGeom>
          <a:noFill/>
        </p:spPr>
        <p:txBody>
          <a:bodyPr wrap="square">
            <a:spAutoFit/>
          </a:bodyPr>
          <a:lstStyle/>
          <a:p>
            <a:pPr>
              <a:defRPr sz="1500" b="1">
                <a:solidFill>
                  <a:srgbClr val="00B8D9"/>
                </a:solidFill>
              </a:defRPr>
            </a:pPr>
            <a:r>
              <a:t>📦 blockchain.py</a:t>
            </a:r>
          </a:p>
          <a:p>
            <a:pPr>
              <a:spcBef>
                <a:spcPts val="800"/>
              </a:spcBef>
              <a:defRPr sz="1300" b="1">
                <a:solidFill>
                  <a:srgbClr val="F5F7FA"/>
                </a:solidFill>
              </a:defRPr>
            </a:pPr>
            <a:r>
              <a:t>Core Blockchain Primitives</a:t>
            </a:r>
          </a:p>
          <a:p>
            <a:pPr>
              <a:spcBef>
                <a:spcPts val="1200"/>
              </a:spcBef>
              <a:defRPr sz="1100">
                <a:solidFill>
                  <a:srgbClr val="D2DAE6"/>
                </a:solidFill>
              </a:defRPr>
            </a:pPr>
            <a:r>
              <a:t>Implements Transaction, Block, and Blockchain structures with SHA-256 serialization and full verify_chain() hash linkage checks.</a:t>
            </a:r>
          </a:p>
        </p:txBody>
      </p:sp>
      <p:sp>
        <p:nvSpPr>
          <p:cNvPr id="8" name="Rounded Rectangle 7"/>
          <p:cNvSpPr/>
          <p:nvPr/>
        </p:nvSpPr>
        <p:spPr>
          <a:xfrm>
            <a:off x="3429000" y="1463040"/>
            <a:ext cx="2560320" cy="4937760"/>
          </a:xfrm>
          <a:prstGeom prst="roundRect">
            <a:avLst/>
          </a:prstGeom>
          <a:solidFill>
            <a:srgbClr val="1C2234"/>
          </a:solidFill>
          <a:ln w="19050">
            <a:solidFill>
              <a:srgbClr val="262E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66160" y="1645920"/>
            <a:ext cx="2286000" cy="4572000"/>
          </a:xfrm>
          <a:prstGeom prst="rect">
            <a:avLst/>
          </a:prstGeom>
          <a:noFill/>
        </p:spPr>
        <p:txBody>
          <a:bodyPr wrap="square">
            <a:spAutoFit/>
          </a:bodyPr>
          <a:lstStyle/>
          <a:p>
            <a:pPr>
              <a:defRPr sz="1500" b="1">
                <a:solidFill>
                  <a:srgbClr val="00B8D9"/>
                </a:solidFill>
              </a:defRPr>
            </a:pPr>
            <a:r>
              <a:t>📦 consensus.py</a:t>
            </a:r>
          </a:p>
          <a:p>
            <a:pPr>
              <a:spcBef>
                <a:spcPts val="800"/>
              </a:spcBef>
              <a:defRPr sz="1300" b="1">
                <a:solidFill>
                  <a:srgbClr val="F5F7FA"/>
                </a:solidFill>
              </a:defRPr>
            </a:pPr>
            <a:r>
              <a:t>Consensus Engine Modules</a:t>
            </a:r>
          </a:p>
          <a:p>
            <a:pPr>
              <a:spcBef>
                <a:spcPts val="1200"/>
              </a:spcBef>
              <a:defRPr sz="1100">
                <a:solidFill>
                  <a:srgbClr val="D2DAE6"/>
                </a:solidFill>
              </a:defRPr>
            </a:pPr>
            <a:r>
              <a:t>Houses BaselineConsensus (static difficulty) and HybridConsensus (adaptive difficulty) along with the core mining loop.</a:t>
            </a:r>
          </a:p>
        </p:txBody>
      </p:sp>
      <p:sp>
        <p:nvSpPr>
          <p:cNvPr id="10" name="Rounded Rectangle 9"/>
          <p:cNvSpPr/>
          <p:nvPr/>
        </p:nvSpPr>
        <p:spPr>
          <a:xfrm>
            <a:off x="6126480" y="1463040"/>
            <a:ext cx="2560320" cy="4937760"/>
          </a:xfrm>
          <a:prstGeom prst="roundRect">
            <a:avLst/>
          </a:prstGeom>
          <a:solidFill>
            <a:srgbClr val="1C2234"/>
          </a:solidFill>
          <a:ln w="19050">
            <a:solidFill>
              <a:srgbClr val="262E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63640" y="1645920"/>
            <a:ext cx="2286000" cy="4572000"/>
          </a:xfrm>
          <a:prstGeom prst="rect">
            <a:avLst/>
          </a:prstGeom>
          <a:noFill/>
        </p:spPr>
        <p:txBody>
          <a:bodyPr wrap="square">
            <a:spAutoFit/>
          </a:bodyPr>
          <a:lstStyle/>
          <a:p>
            <a:pPr>
              <a:defRPr sz="1500" b="1">
                <a:solidFill>
                  <a:srgbClr val="00B8D9"/>
                </a:solidFill>
              </a:defRPr>
            </a:pPr>
            <a:r>
              <a:t>📦 experiment.py</a:t>
            </a:r>
          </a:p>
          <a:p>
            <a:pPr>
              <a:spcBef>
                <a:spcPts val="800"/>
              </a:spcBef>
              <a:defRPr sz="1300" b="1">
                <a:solidFill>
                  <a:srgbClr val="F5F7FA"/>
                </a:solidFill>
              </a:defRPr>
            </a:pPr>
            <a:r>
              <a:t>Benchmarking Testbed</a:t>
            </a:r>
          </a:p>
          <a:p>
            <a:pPr>
              <a:spcBef>
                <a:spcPts val="1200"/>
              </a:spcBef>
              <a:defRPr sz="1100">
                <a:solidFill>
                  <a:srgbClr val="D2DAE6"/>
                </a:solidFill>
              </a:defRPr>
            </a:pPr>
            <a:r>
              <a:t>Drives multi-run experiments across varying loads (100–5000 txs) and mix ratios, collecting high-precision statistical metrics.</a:t>
            </a:r>
          </a:p>
        </p:txBody>
      </p:sp>
      <p:sp>
        <p:nvSpPr>
          <p:cNvPr id="12" name="Rounded Rectangle 11"/>
          <p:cNvSpPr/>
          <p:nvPr/>
        </p:nvSpPr>
        <p:spPr>
          <a:xfrm>
            <a:off x="8823960" y="1463040"/>
            <a:ext cx="2560320" cy="4937760"/>
          </a:xfrm>
          <a:prstGeom prst="roundRect">
            <a:avLst/>
          </a:prstGeom>
          <a:solidFill>
            <a:srgbClr val="1C2234"/>
          </a:solidFill>
          <a:ln w="19050">
            <a:solidFill>
              <a:srgbClr val="262E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0" y="1645920"/>
            <a:ext cx="2286000" cy="4572000"/>
          </a:xfrm>
          <a:prstGeom prst="rect">
            <a:avLst/>
          </a:prstGeom>
          <a:noFill/>
        </p:spPr>
        <p:txBody>
          <a:bodyPr wrap="square">
            <a:spAutoFit/>
          </a:bodyPr>
          <a:lstStyle/>
          <a:p>
            <a:pPr>
              <a:defRPr sz="1500" b="1">
                <a:solidFill>
                  <a:srgbClr val="00B8D9"/>
                </a:solidFill>
              </a:defRPr>
            </a:pPr>
            <a:r>
              <a:t>📦 visualize.py</a:t>
            </a:r>
          </a:p>
          <a:p>
            <a:pPr>
              <a:spcBef>
                <a:spcPts val="800"/>
              </a:spcBef>
              <a:defRPr sz="1300" b="1">
                <a:solidFill>
                  <a:srgbClr val="F5F7FA"/>
                </a:solidFill>
              </a:defRPr>
            </a:pPr>
            <a:r>
              <a:t>Reporting &amp; Chart Generator</a:t>
            </a:r>
          </a:p>
          <a:p>
            <a:pPr>
              <a:spcBef>
                <a:spcPts val="1200"/>
              </a:spcBef>
              <a:defRPr sz="1100">
                <a:solidFill>
                  <a:srgbClr val="D2DAE6"/>
                </a:solidFill>
              </a:defRPr>
            </a:pPr>
            <a:r>
              <a:t>Produces markdown tables, results.csv, and dark-themed Matplotlib visual charts for publication-quality analysis.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B8D9"/>
                </a:solidFill>
              </a:defRPr>
            </a:pPr>
            <a:r>
              <a:t>CRYPTOCURRENCY &amp; BLOCKCHAIN TECHNOLOGY</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F5F7FA"/>
                </a:solidFill>
              </a:defRPr>
            </a:pPr>
            <a:r>
              <a:t>Experimental Methodology &amp; Benchmark Configuration</a:t>
            </a:r>
          </a:p>
        </p:txBody>
      </p:sp>
      <p:sp>
        <p:nvSpPr>
          <p:cNvPr id="5" name="Rectangle 4"/>
          <p:cNvSpPr/>
          <p:nvPr/>
        </p:nvSpPr>
        <p:spPr>
          <a:xfrm>
            <a:off x="731520" y="1280160"/>
            <a:ext cx="10728655" cy="18288"/>
          </a:xfrm>
          <a:prstGeom prst="rect">
            <a:avLst/>
          </a:prstGeom>
          <a:solidFill>
            <a:srgbClr val="26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212080" cy="4937760"/>
          </a:xfrm>
          <a:prstGeom prst="roundRect">
            <a:avLst/>
          </a:prstGeom>
          <a:solidFill>
            <a:srgbClr val="1C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45920"/>
            <a:ext cx="4846320" cy="4572000"/>
          </a:xfrm>
          <a:prstGeom prst="rect">
            <a:avLst/>
          </a:prstGeom>
          <a:noFill/>
        </p:spPr>
        <p:txBody>
          <a:bodyPr wrap="square">
            <a:spAutoFit/>
          </a:bodyPr>
          <a:lstStyle/>
          <a:p>
            <a:pPr>
              <a:defRPr sz="1800" b="1">
                <a:solidFill>
                  <a:srgbClr val="2ECC71"/>
                </a:solidFill>
              </a:defRPr>
            </a:pPr>
            <a:r>
              <a:t>Experimental Variables</a:t>
            </a:r>
          </a:p>
          <a:p>
            <a:pPr>
              <a:spcBef>
                <a:spcPts val="800"/>
              </a:spcBef>
            </a:pPr>
            <a:r>
              <a:rPr sz="1200" b="1">
                <a:solidFill>
                  <a:srgbClr val="00B8D9"/>
                </a:solidFill>
              </a:rPr>
              <a:t>Transaction Loads Tested: </a:t>
            </a:r>
            <a:r>
              <a:rPr sz="1200">
                <a:solidFill>
                  <a:srgbClr val="D2DAE6"/>
                </a:solidFill>
              </a:rPr>
              <a:t>100, 500, 1000, 5000 transactions (scaling from small batches to high-volume traffic).</a:t>
            </a:r>
          </a:p>
          <a:p>
            <a:pPr>
              <a:spcBef>
                <a:spcPts val="800"/>
              </a:spcBef>
            </a:pPr>
            <a:r>
              <a:rPr sz="1200" b="1">
                <a:solidFill>
                  <a:srgbClr val="00B8D9"/>
                </a:solidFill>
              </a:rPr>
              <a:t>Transaction Mix Ratios: </a:t>
            </a:r>
            <a:r>
              <a:rPr sz="1200">
                <a:solidFill>
                  <a:srgbClr val="D2DAE6"/>
                </a:solidFill>
              </a:rPr>
              <a:t>• 90% Light / 10% Strong (Retail payment pattern)
• 70% Light / 30% Strong (Balanced commercial network)
• 50% Light / 50% Strong (Institutional settlement)</a:t>
            </a:r>
          </a:p>
          <a:p>
            <a:pPr>
              <a:spcBef>
                <a:spcPts val="800"/>
              </a:spcBef>
            </a:pPr>
            <a:r>
              <a:rPr sz="1200" b="1">
                <a:solidFill>
                  <a:srgbClr val="00B8D9"/>
                </a:solidFill>
              </a:rPr>
              <a:t>Block Size: </a:t>
            </a:r>
            <a:r>
              <a:rPr sz="1200">
                <a:solidFill>
                  <a:srgbClr val="D2DAE6"/>
                </a:solidFill>
              </a:rPr>
              <a:t>10 transactions per block.</a:t>
            </a:r>
          </a:p>
          <a:p>
            <a:pPr>
              <a:spcBef>
                <a:spcPts val="800"/>
              </a:spcBef>
            </a:pPr>
            <a:r>
              <a:rPr sz="1200" b="1">
                <a:solidFill>
                  <a:srgbClr val="00B8D9"/>
                </a:solidFill>
              </a:rPr>
              <a:t>Baseline Difficulty: </a:t>
            </a:r>
            <a:r>
              <a:rPr sz="1200">
                <a:solidFill>
                  <a:srgbClr val="D2DAE6"/>
                </a:solidFill>
              </a:rPr>
              <a:t>3 leading hex zeros (uniform across all blocks).</a:t>
            </a:r>
          </a:p>
          <a:p>
            <a:pPr>
              <a:spcBef>
                <a:spcPts val="800"/>
              </a:spcBef>
            </a:pPr>
            <a:r>
              <a:rPr sz="1200" b="1">
                <a:solidFill>
                  <a:srgbClr val="00B8D9"/>
                </a:solidFill>
              </a:rPr>
              <a:t>Hybrid Difficulties: </a:t>
            </a:r>
            <a:r>
              <a:rPr sz="1200">
                <a:solidFill>
                  <a:srgbClr val="D2DAE6"/>
                </a:solidFill>
              </a:rPr>
              <a:t>Light = 1 zero | Strong = 3 zeros.</a:t>
            </a:r>
          </a:p>
          <a:p>
            <a:pPr>
              <a:spcBef>
                <a:spcPts val="800"/>
              </a:spcBef>
            </a:pPr>
            <a:r>
              <a:rPr sz="1200" b="1">
                <a:solidFill>
                  <a:srgbClr val="00B8D9"/>
                </a:solidFill>
              </a:rPr>
              <a:t>Statistical Rigor: </a:t>
            </a:r>
            <a:r>
              <a:rPr sz="1200">
                <a:solidFill>
                  <a:srgbClr val="D2DAE6"/>
                </a:solidFill>
              </a:rPr>
              <a:t>3 independent repetitions per combination with unique seeds to report Mean ± Std Dev.</a:t>
            </a:r>
          </a:p>
        </p:txBody>
      </p:sp>
      <p:sp>
        <p:nvSpPr>
          <p:cNvPr id="8" name="Rounded Rectangle 7"/>
          <p:cNvSpPr/>
          <p:nvPr/>
        </p:nvSpPr>
        <p:spPr>
          <a:xfrm>
            <a:off x="6217920" y="1463040"/>
            <a:ext cx="5212080" cy="4937760"/>
          </a:xfrm>
          <a:prstGeom prst="roundRect">
            <a:avLst/>
          </a:prstGeom>
          <a:solidFill>
            <a:srgbClr val="1C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645920"/>
            <a:ext cx="4846320" cy="4572000"/>
          </a:xfrm>
          <a:prstGeom prst="rect">
            <a:avLst/>
          </a:prstGeom>
          <a:noFill/>
        </p:spPr>
        <p:txBody>
          <a:bodyPr wrap="square">
            <a:spAutoFit/>
          </a:bodyPr>
          <a:lstStyle/>
          <a:p>
            <a:pPr>
              <a:defRPr sz="1800" b="1">
                <a:solidFill>
                  <a:srgbClr val="00B8D9"/>
                </a:solidFill>
              </a:defRPr>
            </a:pPr>
            <a:r>
              <a:t>Key Metrics Evaluated</a:t>
            </a:r>
          </a:p>
          <a:p>
            <a:pPr>
              <a:spcBef>
                <a:spcPts val="800"/>
              </a:spcBef>
            </a:pPr>
            <a:r>
              <a:rPr sz="1200" b="1">
                <a:solidFill>
                  <a:srgbClr val="F5F7FA"/>
                </a:solidFill>
              </a:rPr>
              <a:t>⏱️ Average Transaction Latency: </a:t>
            </a:r>
            <a:r>
              <a:rPr sz="1100">
                <a:solidFill>
                  <a:srgbClr val="D2DAE6"/>
                </a:solidFill>
              </a:rPr>
              <a:t>Time from transaction generation/submission to final inclusion in a validated block.</a:t>
            </a:r>
          </a:p>
          <a:p>
            <a:pPr>
              <a:spcBef>
                <a:spcPts val="800"/>
              </a:spcBef>
            </a:pPr>
            <a:r>
              <a:rPr sz="1200" b="1">
                <a:solidFill>
                  <a:srgbClr val="F5F7FA"/>
                </a:solidFill>
              </a:rPr>
              <a:t>⏳ Block Confirmation Time: </a:t>
            </a:r>
            <a:r>
              <a:rPr sz="1100">
                <a:solidFill>
                  <a:srgbClr val="D2DAE6"/>
                </a:solidFill>
              </a:rPr>
              <a:t>Wall-clock duration spent mining the specific block containing the transaction.</a:t>
            </a:r>
          </a:p>
          <a:p>
            <a:pPr>
              <a:spcBef>
                <a:spcPts val="800"/>
              </a:spcBef>
            </a:pPr>
            <a:r>
              <a:rPr sz="1200" b="1">
                <a:solidFill>
                  <a:srgbClr val="F5F7FA"/>
                </a:solidFill>
              </a:rPr>
              <a:t>🔢 Computational Cost (Hashes): </a:t>
            </a:r>
            <a:r>
              <a:rPr sz="1100">
                <a:solidFill>
                  <a:srgbClr val="D2DAE6"/>
                </a:solidFill>
              </a:rPr>
              <a:t>Total SHA-256 hash attempts executed to find valid nonces across all blocks.</a:t>
            </a:r>
          </a:p>
          <a:p>
            <a:pPr>
              <a:spcBef>
                <a:spcPts val="800"/>
              </a:spcBef>
            </a:pPr>
            <a:r>
              <a:rPr sz="1200" b="1">
                <a:solidFill>
                  <a:srgbClr val="F5F7FA"/>
                </a:solidFill>
              </a:rPr>
              <a:t>💻 CPU Time: </a:t>
            </a:r>
            <a:r>
              <a:rPr sz="1100">
                <a:solidFill>
                  <a:srgbClr val="D2DAE6"/>
                </a:solidFill>
              </a:rPr>
              <a:t>Total processor seconds spent in the proof-of-work mining loop.</a:t>
            </a:r>
          </a:p>
          <a:p>
            <a:pPr>
              <a:spcBef>
                <a:spcPts val="800"/>
              </a:spcBef>
            </a:pPr>
            <a:r>
              <a:rPr sz="1200" b="1">
                <a:solidFill>
                  <a:srgbClr val="F5F7FA"/>
                </a:solidFill>
              </a:rPr>
              <a:t>🚀 System Throughput: </a:t>
            </a:r>
            <a:r>
              <a:rPr sz="1100">
                <a:solidFill>
                  <a:srgbClr val="D2DAE6"/>
                </a:solidFill>
              </a:rPr>
              <a:t>Transactions successfully processed and committed per second (tx/s).</a:t>
            </a:r>
          </a:p>
          <a:p>
            <a:pPr>
              <a:spcBef>
                <a:spcPts val="800"/>
              </a:spcBef>
            </a:pPr>
            <a:r>
              <a:rPr sz="1200" b="1">
                <a:solidFill>
                  <a:srgbClr val="F5F7FA"/>
                </a:solidFill>
              </a:rPr>
              <a:t>🔒 Chain Validity: </a:t>
            </a:r>
            <a:r>
              <a:rPr sz="1100">
                <a:solidFill>
                  <a:srgbClr val="D2DAE6"/>
                </a:solidFill>
              </a:rPr>
              <a:t>Strict verification of cryptographic linkage and difficulty targets via verify_chain().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B8D9"/>
                </a:solidFill>
              </a:defRPr>
            </a:pPr>
            <a:r>
              <a:t>CRYPTOCURRENCY &amp; BLOCKCHAIN TECHNOLOGY</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F5F7FA"/>
                </a:solidFill>
              </a:defRPr>
            </a:pPr>
            <a:r>
              <a:t>Performance Evaluation: Transaction Latency &amp; Confirmation</a:t>
            </a:r>
          </a:p>
        </p:txBody>
      </p:sp>
      <p:sp>
        <p:nvSpPr>
          <p:cNvPr id="5" name="Rectangle 4"/>
          <p:cNvSpPr/>
          <p:nvPr/>
        </p:nvSpPr>
        <p:spPr>
          <a:xfrm>
            <a:off x="731520" y="1280160"/>
            <a:ext cx="10728655" cy="18288"/>
          </a:xfrm>
          <a:prstGeom prst="rect">
            <a:avLst/>
          </a:prstGeom>
          <a:solidFill>
            <a:srgbClr val="26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atency_vs_load.png"/>
          <p:cNvPicPr>
            <a:picLocks noChangeAspect="1"/>
          </p:cNvPicPr>
          <p:nvPr/>
        </p:nvPicPr>
        <p:blipFill>
          <a:blip r:embed="rId2"/>
          <a:stretch>
            <a:fillRect/>
          </a:stretch>
        </p:blipFill>
        <p:spPr>
          <a:xfrm>
            <a:off x="731520" y="1463040"/>
            <a:ext cx="5120640" cy="3129280"/>
          </a:xfrm>
          <a:prstGeom prst="rect">
            <a:avLst/>
          </a:prstGeom>
        </p:spPr>
      </p:pic>
      <p:pic>
        <p:nvPicPr>
          <p:cNvPr id="7" name="Picture 6" descr="confirmation_vs_load.png"/>
          <p:cNvPicPr>
            <a:picLocks noChangeAspect="1"/>
          </p:cNvPicPr>
          <p:nvPr/>
        </p:nvPicPr>
        <p:blipFill>
          <a:blip r:embed="rId3"/>
          <a:stretch>
            <a:fillRect/>
          </a:stretch>
        </p:blipFill>
        <p:spPr>
          <a:xfrm>
            <a:off x="6217920" y="1463040"/>
            <a:ext cx="5212080" cy="3185160"/>
          </a:xfrm>
          <a:prstGeom prst="rect">
            <a:avLst/>
          </a:prstGeom>
        </p:spPr>
      </p:pic>
      <p:sp>
        <p:nvSpPr>
          <p:cNvPr id="8" name="Rounded Rectangle 7"/>
          <p:cNvSpPr/>
          <p:nvPr/>
        </p:nvSpPr>
        <p:spPr>
          <a:xfrm>
            <a:off x="731520" y="5394960"/>
            <a:ext cx="10728655" cy="1005840"/>
          </a:xfrm>
          <a:prstGeom prst="roundRect">
            <a:avLst/>
          </a:prstGeom>
          <a:solidFill>
            <a:srgbClr val="1C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5440680"/>
            <a:ext cx="10332720" cy="914400"/>
          </a:xfrm>
          <a:prstGeom prst="rect">
            <a:avLst/>
          </a:prstGeom>
          <a:noFill/>
        </p:spPr>
        <p:txBody>
          <a:bodyPr wrap="square">
            <a:spAutoFit/>
          </a:bodyPr>
          <a:lstStyle/>
          <a:p>
            <a:pPr>
              <a:defRPr sz="1300" b="1">
                <a:solidFill>
                  <a:srgbClr val="2ECC71"/>
                </a:solidFill>
              </a:defRPr>
            </a:pPr>
            <a:r>
              <a:t>💡 Key Observation (Latency &amp; Confirmation):</a:t>
            </a:r>
          </a:p>
          <a:p>
            <a:pPr>
              <a:defRPr sz="1100">
                <a:solidFill>
                  <a:srgbClr val="D2DAE6"/>
                </a:solidFill>
              </a:defRPr>
            </a:pPr>
            <a:r>
              <a:t>• The Proposed Hybrid consensus achieves up to 80–90% reduction in average transaction latency compared to Baseline PoW.</a:t>
            </a:r>
            <a:br/>
            <a:r>
              <a:t>• Blocks containing lightweight micropayments resolve in milliseconds, preventing queue buildup as load scales to 5,000 transactions.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B8D9"/>
                </a:solidFill>
              </a:defRPr>
            </a:pPr>
            <a:r>
              <a:t>CRYPTOCURRENCY &amp; BLOCKCHAIN TECHNOLOGY</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F5F7FA"/>
                </a:solidFill>
              </a:defRPr>
            </a:pPr>
            <a:r>
              <a:t>Computational Efficiency: Hash Attempts &amp; CPU Time</a:t>
            </a:r>
          </a:p>
        </p:txBody>
      </p:sp>
      <p:sp>
        <p:nvSpPr>
          <p:cNvPr id="5" name="Rectangle 4"/>
          <p:cNvSpPr/>
          <p:nvPr/>
        </p:nvSpPr>
        <p:spPr>
          <a:xfrm>
            <a:off x="731520" y="1280160"/>
            <a:ext cx="10728655" cy="18288"/>
          </a:xfrm>
          <a:prstGeom prst="rect">
            <a:avLst/>
          </a:prstGeom>
          <a:solidFill>
            <a:srgbClr val="26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ost_vs_load.png"/>
          <p:cNvPicPr>
            <a:picLocks noChangeAspect="1"/>
          </p:cNvPicPr>
          <p:nvPr/>
        </p:nvPicPr>
        <p:blipFill>
          <a:blip r:embed="rId2"/>
          <a:stretch>
            <a:fillRect/>
          </a:stretch>
        </p:blipFill>
        <p:spPr>
          <a:xfrm>
            <a:off x="731520" y="1463040"/>
            <a:ext cx="5120640" cy="3129280"/>
          </a:xfrm>
          <a:prstGeom prst="rect">
            <a:avLst/>
          </a:prstGeom>
        </p:spPr>
      </p:pic>
      <p:pic>
        <p:nvPicPr>
          <p:cNvPr id="7" name="Picture 6" descr="cpu_time_vs_load.png"/>
          <p:cNvPicPr>
            <a:picLocks noChangeAspect="1"/>
          </p:cNvPicPr>
          <p:nvPr/>
        </p:nvPicPr>
        <p:blipFill>
          <a:blip r:embed="rId3"/>
          <a:stretch>
            <a:fillRect/>
          </a:stretch>
        </p:blipFill>
        <p:spPr>
          <a:xfrm>
            <a:off x="6217920" y="1463040"/>
            <a:ext cx="5212080" cy="3185160"/>
          </a:xfrm>
          <a:prstGeom prst="rect">
            <a:avLst/>
          </a:prstGeom>
        </p:spPr>
      </p:pic>
      <p:sp>
        <p:nvSpPr>
          <p:cNvPr id="8" name="Rounded Rectangle 7"/>
          <p:cNvSpPr/>
          <p:nvPr/>
        </p:nvSpPr>
        <p:spPr>
          <a:xfrm>
            <a:off x="731520" y="5394960"/>
            <a:ext cx="10728655" cy="1005840"/>
          </a:xfrm>
          <a:prstGeom prst="roundRect">
            <a:avLst/>
          </a:prstGeom>
          <a:solidFill>
            <a:srgbClr val="1C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5440680"/>
            <a:ext cx="10332720" cy="914400"/>
          </a:xfrm>
          <a:prstGeom prst="rect">
            <a:avLst/>
          </a:prstGeom>
          <a:noFill/>
        </p:spPr>
        <p:txBody>
          <a:bodyPr wrap="square">
            <a:spAutoFit/>
          </a:bodyPr>
          <a:lstStyle/>
          <a:p>
            <a:pPr>
              <a:defRPr sz="1300" b="1">
                <a:solidFill>
                  <a:srgbClr val="2ECC71"/>
                </a:solidFill>
              </a:defRPr>
            </a:pPr>
            <a:r>
              <a:t>💡 Key Observation (Computational &amp; Energy Savings):</a:t>
            </a:r>
          </a:p>
          <a:p>
            <a:pPr>
              <a:defRPr sz="1100">
                <a:solidFill>
                  <a:srgbClr val="D2DAE6"/>
                </a:solidFill>
              </a:defRPr>
            </a:pPr>
            <a:r>
              <a:t>• Total SHA-256 hash attempts drop by orders of magnitude (from ~1.8 million down to ~200k hashes at high volume).</a:t>
            </a:r>
            <a:br/>
            <a:r>
              <a:t>• Direct translation into CPU cycle preservation, reduced device thermal throttling, and massive energy conservation.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B8D9"/>
                </a:solidFill>
              </a:defRPr>
            </a:pPr>
            <a:r>
              <a:t>CRYPTOCURRENCY &amp; BLOCKCHAIN TECHNOLOGY</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F5F7FA"/>
                </a:solidFill>
              </a:defRPr>
            </a:pPr>
            <a:r>
              <a:t>Throughput Scalability &amp; Impact of Transaction Mix</a:t>
            </a:r>
          </a:p>
        </p:txBody>
      </p:sp>
      <p:sp>
        <p:nvSpPr>
          <p:cNvPr id="5" name="Rectangle 4"/>
          <p:cNvSpPr/>
          <p:nvPr/>
        </p:nvSpPr>
        <p:spPr>
          <a:xfrm>
            <a:off x="731520" y="1280160"/>
            <a:ext cx="10728655" cy="18288"/>
          </a:xfrm>
          <a:prstGeom prst="rect">
            <a:avLst/>
          </a:prstGeom>
          <a:solidFill>
            <a:srgbClr val="26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throughput_vs_load.png"/>
          <p:cNvPicPr>
            <a:picLocks noChangeAspect="1"/>
          </p:cNvPicPr>
          <p:nvPr/>
        </p:nvPicPr>
        <p:blipFill>
          <a:blip r:embed="rId2"/>
          <a:stretch>
            <a:fillRect/>
          </a:stretch>
        </p:blipFill>
        <p:spPr>
          <a:xfrm>
            <a:off x="731520" y="1463040"/>
            <a:ext cx="4389120" cy="2682240"/>
          </a:xfrm>
          <a:prstGeom prst="rect">
            <a:avLst/>
          </a:prstGeom>
        </p:spPr>
      </p:pic>
      <p:pic>
        <p:nvPicPr>
          <p:cNvPr id="7" name="Picture 6" descr="mix_effect.png"/>
          <p:cNvPicPr>
            <a:picLocks noChangeAspect="1"/>
          </p:cNvPicPr>
          <p:nvPr/>
        </p:nvPicPr>
        <p:blipFill>
          <a:blip r:embed="rId3"/>
          <a:stretch>
            <a:fillRect/>
          </a:stretch>
        </p:blipFill>
        <p:spPr>
          <a:xfrm>
            <a:off x="5303520" y="1463040"/>
            <a:ext cx="6126480" cy="1937200"/>
          </a:xfrm>
          <a:prstGeom prst="rect">
            <a:avLst/>
          </a:prstGeom>
        </p:spPr>
      </p:pic>
      <p:sp>
        <p:nvSpPr>
          <p:cNvPr id="8" name="Rounded Rectangle 7"/>
          <p:cNvSpPr/>
          <p:nvPr/>
        </p:nvSpPr>
        <p:spPr>
          <a:xfrm>
            <a:off x="731520" y="5394960"/>
            <a:ext cx="10728655" cy="1005840"/>
          </a:xfrm>
          <a:prstGeom prst="roundRect">
            <a:avLst/>
          </a:prstGeom>
          <a:solidFill>
            <a:srgbClr val="1C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5440680"/>
            <a:ext cx="10332720" cy="914400"/>
          </a:xfrm>
          <a:prstGeom prst="rect">
            <a:avLst/>
          </a:prstGeom>
          <a:noFill/>
        </p:spPr>
        <p:txBody>
          <a:bodyPr wrap="square">
            <a:spAutoFit/>
          </a:bodyPr>
          <a:lstStyle/>
          <a:p>
            <a:pPr>
              <a:defRPr sz="1300" b="1">
                <a:solidFill>
                  <a:srgbClr val="2ECC71"/>
                </a:solidFill>
              </a:defRPr>
            </a:pPr>
            <a:r>
              <a:t>💡 Key Observation (Throughput &amp; Mix Sensitivity):</a:t>
            </a:r>
          </a:p>
          <a:p>
            <a:pPr>
              <a:defRPr sz="1100">
                <a:solidFill>
                  <a:srgbClr val="D2DAE6"/>
                </a:solidFill>
              </a:defRPr>
            </a:pPr>
            <a:r>
              <a:t>• Throughput (tx/s) increases dramatically under the hybrid approach (over 300–600% gain).</a:t>
            </a:r>
            <a:br/>
            <a:r>
              <a:t>• Sensitivity Analysis: The advantage is highest at 90% lightweight ratio and gracefully converges as strong transactions reach 50%.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B8D9"/>
                </a:solidFill>
              </a:defRPr>
            </a:pPr>
            <a:r>
              <a:t>CRYPTOCURRENCY &amp; BLOCKCHAIN TECHNOLOGY</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F5F7FA"/>
                </a:solidFill>
              </a:defRPr>
            </a:pPr>
            <a:r>
              <a:t>Security &amp; Blockchain Integrity Guarantees</a:t>
            </a:r>
          </a:p>
        </p:txBody>
      </p:sp>
      <p:sp>
        <p:nvSpPr>
          <p:cNvPr id="5" name="Rectangle 4"/>
          <p:cNvSpPr/>
          <p:nvPr/>
        </p:nvSpPr>
        <p:spPr>
          <a:xfrm>
            <a:off x="731520" y="1280160"/>
            <a:ext cx="10728655" cy="18288"/>
          </a:xfrm>
          <a:prstGeom prst="rect">
            <a:avLst/>
          </a:prstGeom>
          <a:solidFill>
            <a:srgbClr val="26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257800" cy="2286000"/>
          </a:xfrm>
          <a:prstGeom prst="roundRect">
            <a:avLst/>
          </a:prstGeom>
          <a:solidFill>
            <a:srgbClr val="1C2234"/>
          </a:solidFill>
          <a:ln w="19050">
            <a:solidFill>
              <a:srgbClr val="262E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45920"/>
            <a:ext cx="4892040" cy="1920240"/>
          </a:xfrm>
          <a:prstGeom prst="rect">
            <a:avLst/>
          </a:prstGeom>
          <a:noFill/>
        </p:spPr>
        <p:txBody>
          <a:bodyPr wrap="square">
            <a:spAutoFit/>
          </a:bodyPr>
          <a:lstStyle/>
          <a:p>
            <a:pPr>
              <a:defRPr sz="1600" b="1">
                <a:solidFill>
                  <a:srgbClr val="2ECC71"/>
                </a:solidFill>
              </a:defRPr>
            </a:pPr>
            <a:r>
              <a:t>🔒 SHA-256 Hash Chaining</a:t>
            </a:r>
          </a:p>
          <a:p>
            <a:pPr>
              <a:spcBef>
                <a:spcPts val="800"/>
              </a:spcBef>
              <a:defRPr sz="1200">
                <a:solidFill>
                  <a:srgbClr val="D2DAE6"/>
                </a:solidFill>
              </a:defRPr>
            </a:pPr>
            <a:r>
              <a:t>Every block contains the deterministic cryptographic hash of the preceding block (previous_hash). Any modification to past transactions breaks the chain immediately.</a:t>
            </a:r>
          </a:p>
        </p:txBody>
      </p:sp>
      <p:sp>
        <p:nvSpPr>
          <p:cNvPr id="8" name="Rounded Rectangle 7"/>
          <p:cNvSpPr/>
          <p:nvPr/>
        </p:nvSpPr>
        <p:spPr>
          <a:xfrm>
            <a:off x="6172200" y="1463040"/>
            <a:ext cx="5257800" cy="2286000"/>
          </a:xfrm>
          <a:prstGeom prst="roundRect">
            <a:avLst/>
          </a:prstGeom>
          <a:solidFill>
            <a:srgbClr val="1C2234"/>
          </a:solidFill>
          <a:ln w="19050">
            <a:solidFill>
              <a:srgbClr val="262E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1645920"/>
            <a:ext cx="4892040" cy="1920240"/>
          </a:xfrm>
          <a:prstGeom prst="rect">
            <a:avLst/>
          </a:prstGeom>
          <a:noFill/>
        </p:spPr>
        <p:txBody>
          <a:bodyPr wrap="square">
            <a:spAutoFit/>
          </a:bodyPr>
          <a:lstStyle/>
          <a:p>
            <a:pPr>
              <a:defRPr sz="1600" b="1">
                <a:solidFill>
                  <a:srgbClr val="00B8D9"/>
                </a:solidFill>
              </a:defRPr>
            </a:pPr>
            <a:r>
              <a:t>🛡️ High-Value Protection</a:t>
            </a:r>
          </a:p>
          <a:p>
            <a:pPr>
              <a:spcBef>
                <a:spcPts val="800"/>
              </a:spcBef>
              <a:defRPr sz="1200">
                <a:solidFill>
                  <a:srgbClr val="D2DAE6"/>
                </a:solidFill>
              </a:defRPr>
            </a:pPr>
            <a:r>
              <a:t>High-value transfers automatically enforce high difficulty (strong PoW), ensuring that malicious actors cannot double-spend high-value funds on weak blocks.</a:t>
            </a:r>
          </a:p>
        </p:txBody>
      </p:sp>
      <p:sp>
        <p:nvSpPr>
          <p:cNvPr id="10" name="Rounded Rectangle 9"/>
          <p:cNvSpPr/>
          <p:nvPr/>
        </p:nvSpPr>
        <p:spPr>
          <a:xfrm>
            <a:off x="731520" y="3931920"/>
            <a:ext cx="5257800" cy="2286000"/>
          </a:xfrm>
          <a:prstGeom prst="roundRect">
            <a:avLst/>
          </a:prstGeom>
          <a:solidFill>
            <a:srgbClr val="1C2234"/>
          </a:solidFill>
          <a:ln w="19050">
            <a:solidFill>
              <a:srgbClr val="262E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114800"/>
            <a:ext cx="4892040" cy="1920240"/>
          </a:xfrm>
          <a:prstGeom prst="rect">
            <a:avLst/>
          </a:prstGeom>
          <a:noFill/>
        </p:spPr>
        <p:txBody>
          <a:bodyPr wrap="square">
            <a:spAutoFit/>
          </a:bodyPr>
          <a:lstStyle/>
          <a:p>
            <a:pPr>
              <a:defRPr sz="1600" b="1">
                <a:solidFill>
                  <a:srgbClr val="2ECC71"/>
                </a:solidFill>
              </a:defRPr>
            </a:pPr>
            <a:r>
              <a:t>✅ 100% Chain Verification</a:t>
            </a:r>
          </a:p>
          <a:p>
            <a:pPr>
              <a:spcBef>
                <a:spcPts val="800"/>
              </a:spcBef>
              <a:defRPr sz="1200">
                <a:solidFill>
                  <a:srgbClr val="D2DAE6"/>
                </a:solidFill>
              </a:defRPr>
            </a:pPr>
            <a:r>
              <a:t>Both Baseline and Proposed chains were subjected to full verify_chain() tests across all 100, 500, 1000, and 5000 load runs. Result: 100% PASS RATE.</a:t>
            </a:r>
          </a:p>
        </p:txBody>
      </p:sp>
      <p:sp>
        <p:nvSpPr>
          <p:cNvPr id="12" name="Rounded Rectangle 11"/>
          <p:cNvSpPr/>
          <p:nvPr/>
        </p:nvSpPr>
        <p:spPr>
          <a:xfrm>
            <a:off x="6172200" y="3931920"/>
            <a:ext cx="5257800" cy="2286000"/>
          </a:xfrm>
          <a:prstGeom prst="roundRect">
            <a:avLst/>
          </a:prstGeom>
          <a:solidFill>
            <a:srgbClr val="1C2234"/>
          </a:solidFill>
          <a:ln w="19050">
            <a:solidFill>
              <a:srgbClr val="262E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4114800"/>
            <a:ext cx="4892040" cy="1920240"/>
          </a:xfrm>
          <a:prstGeom prst="rect">
            <a:avLst/>
          </a:prstGeom>
          <a:noFill/>
        </p:spPr>
        <p:txBody>
          <a:bodyPr wrap="square">
            <a:spAutoFit/>
          </a:bodyPr>
          <a:lstStyle/>
          <a:p>
            <a:pPr>
              <a:defRPr sz="1600" b="1">
                <a:solidFill>
                  <a:srgbClr val="F5F7FA"/>
                </a:solidFill>
              </a:defRPr>
            </a:pPr>
            <a:r>
              <a:t>⚖️ Security vs Efficiency Balance</a:t>
            </a:r>
          </a:p>
          <a:p>
            <a:pPr>
              <a:spcBef>
                <a:spcPts val="800"/>
              </a:spcBef>
              <a:defRPr sz="1200">
                <a:solidFill>
                  <a:srgbClr val="D2DAE6"/>
                </a:solidFill>
              </a:defRPr>
            </a:pPr>
            <a:r>
              <a:t>Adaptive consensus does not compromise security—it eliminates over-engineering by aligning cryptographic hardness with real economic risk.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B8D9"/>
                </a:solidFill>
              </a:defRPr>
            </a:pPr>
            <a:r>
              <a:t>CRYPTOCURRENCY &amp; BLOCKCHAIN TECHNOLOGY</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F5F7FA"/>
                </a:solidFill>
              </a:defRPr>
            </a:pPr>
            <a:r>
              <a:t>Conclusion &amp; Future Research Directions</a:t>
            </a:r>
          </a:p>
        </p:txBody>
      </p:sp>
      <p:sp>
        <p:nvSpPr>
          <p:cNvPr id="5" name="Rectangle 4"/>
          <p:cNvSpPr/>
          <p:nvPr/>
        </p:nvSpPr>
        <p:spPr>
          <a:xfrm>
            <a:off x="731520" y="1280160"/>
            <a:ext cx="10728655" cy="18288"/>
          </a:xfrm>
          <a:prstGeom prst="rect">
            <a:avLst/>
          </a:prstGeom>
          <a:solidFill>
            <a:srgbClr val="26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212080" cy="4937760"/>
          </a:xfrm>
          <a:prstGeom prst="roundRect">
            <a:avLst/>
          </a:prstGeom>
          <a:solidFill>
            <a:srgbClr val="1C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45920"/>
            <a:ext cx="4846320" cy="4572000"/>
          </a:xfrm>
          <a:prstGeom prst="rect">
            <a:avLst/>
          </a:prstGeom>
          <a:noFill/>
        </p:spPr>
        <p:txBody>
          <a:bodyPr wrap="square">
            <a:spAutoFit/>
          </a:bodyPr>
          <a:lstStyle/>
          <a:p>
            <a:pPr>
              <a:defRPr sz="1800" b="1">
                <a:solidFill>
                  <a:srgbClr val="2ECC71"/>
                </a:solidFill>
              </a:defRPr>
            </a:pPr>
            <a:r>
              <a:t>Project Conclusions</a:t>
            </a:r>
          </a:p>
          <a:p>
            <a:pPr>
              <a:spcBef>
                <a:spcPts val="1200"/>
              </a:spcBef>
            </a:pPr>
            <a:r>
              <a:rPr sz="1300" b="1">
                <a:solidFill>
                  <a:srgbClr val="F5F7FA"/>
                </a:solidFill>
              </a:rPr>
              <a:t>Proven Efficiency: </a:t>
            </a:r>
            <a:r>
              <a:rPr sz="1200">
                <a:solidFill>
                  <a:srgbClr val="D2DAE6"/>
                </a:solidFill>
              </a:rPr>
              <a:t>Dynamic difficulty selection delivers up to ~85% reduction in latency and ~90% decrease in hash attempts without sacrificing ledger integrity.</a:t>
            </a:r>
          </a:p>
          <a:p>
            <a:pPr>
              <a:spcBef>
                <a:spcPts val="1200"/>
              </a:spcBef>
            </a:pPr>
            <a:r>
              <a:rPr sz="1300" b="1">
                <a:solidFill>
                  <a:srgbClr val="F5F7FA"/>
                </a:solidFill>
              </a:rPr>
              <a:t>Retail Scalability: </a:t>
            </a:r>
            <a:r>
              <a:rPr sz="1200">
                <a:solidFill>
                  <a:srgbClr val="D2DAE6"/>
                </a:solidFill>
              </a:rPr>
              <a:t>Makes Proof-of-Work blockchains viable for high-frequency micropayments and real-world point-of-sale transactions.</a:t>
            </a:r>
          </a:p>
          <a:p>
            <a:pPr>
              <a:spcBef>
                <a:spcPts val="1200"/>
              </a:spcBef>
            </a:pPr>
            <a:r>
              <a:rPr sz="1300" b="1">
                <a:solidFill>
                  <a:srgbClr val="F5F7FA"/>
                </a:solidFill>
              </a:rPr>
              <a:t>Equitable Security: </a:t>
            </a:r>
            <a:r>
              <a:rPr sz="1200">
                <a:solidFill>
                  <a:srgbClr val="D2DAE6"/>
                </a:solidFill>
              </a:rPr>
              <a:t>High-value settlements retain complete cryptographic defense against reorganization attacks.</a:t>
            </a:r>
          </a:p>
        </p:txBody>
      </p:sp>
      <p:sp>
        <p:nvSpPr>
          <p:cNvPr id="8" name="Rounded Rectangle 7"/>
          <p:cNvSpPr/>
          <p:nvPr/>
        </p:nvSpPr>
        <p:spPr>
          <a:xfrm>
            <a:off x="6217920" y="1463040"/>
            <a:ext cx="5212080" cy="4937760"/>
          </a:xfrm>
          <a:prstGeom prst="roundRect">
            <a:avLst/>
          </a:prstGeom>
          <a:solidFill>
            <a:srgbClr val="1C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645920"/>
            <a:ext cx="4846320" cy="4572000"/>
          </a:xfrm>
          <a:prstGeom prst="rect">
            <a:avLst/>
          </a:prstGeom>
          <a:noFill/>
        </p:spPr>
        <p:txBody>
          <a:bodyPr wrap="square">
            <a:spAutoFit/>
          </a:bodyPr>
          <a:lstStyle/>
          <a:p>
            <a:pPr>
              <a:defRPr sz="1800" b="1">
                <a:solidFill>
                  <a:srgbClr val="00B8D9"/>
                </a:solidFill>
              </a:defRPr>
            </a:pPr>
            <a:r>
              <a:t>Future Scope &amp; Enhancements</a:t>
            </a:r>
          </a:p>
          <a:p>
            <a:pPr>
              <a:spcBef>
                <a:spcPts val="1200"/>
              </a:spcBef>
            </a:pPr>
            <a:r>
              <a:rPr sz="1300" b="1">
                <a:solidFill>
                  <a:srgbClr val="F5F7FA"/>
                </a:solidFill>
              </a:rPr>
              <a:t>Multi-Tiered Difficulty Gradients: </a:t>
            </a:r>
            <a:r>
              <a:rPr sz="1200">
                <a:solidFill>
                  <a:srgbClr val="D2DAE6"/>
                </a:solidFill>
              </a:rPr>
              <a:t>Expanding from 2 tiers to continuous mathematical difficulty functions based on exact transaction monetary amounts.</a:t>
            </a:r>
          </a:p>
          <a:p>
            <a:pPr>
              <a:spcBef>
                <a:spcPts val="1200"/>
              </a:spcBef>
            </a:pPr>
            <a:r>
              <a:rPr sz="1300" b="1">
                <a:solidFill>
                  <a:srgbClr val="F5F7FA"/>
                </a:solidFill>
              </a:rPr>
              <a:t>PoS / PoW Hybrid Integration: </a:t>
            </a:r>
            <a:r>
              <a:rPr sz="1200">
                <a:solidFill>
                  <a:srgbClr val="D2DAE6"/>
                </a:solidFill>
              </a:rPr>
              <a:t>Coupling lightweight PoW for instant settlement with a Proof-of-Stake finality layer for long-term checkpointing.</a:t>
            </a:r>
          </a:p>
          <a:p>
            <a:pPr>
              <a:spcBef>
                <a:spcPts val="1200"/>
              </a:spcBef>
            </a:pPr>
            <a:r>
              <a:rPr sz="1300" b="1">
                <a:solidFill>
                  <a:srgbClr val="F5F7FA"/>
                </a:solidFill>
              </a:rPr>
              <a:t>Zero-Knowledge Proofs (ZK-Rollups): </a:t>
            </a:r>
            <a:r>
              <a:rPr sz="1200">
                <a:solidFill>
                  <a:srgbClr val="D2DAE6"/>
                </a:solidFill>
              </a:rPr>
              <a:t>Integrating zk-SNARK verification to compress batch validation overhead even further.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1416</Words>
  <Application>Microsoft Office PowerPoint</Application>
  <PresentationFormat>Widescreen</PresentationFormat>
  <Paragraphs>107</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Reenk Rathod</cp:lastModifiedBy>
  <cp:revision>1</cp:revision>
  <dcterms:created xsi:type="dcterms:W3CDTF">2013-01-27T09:14:16Z</dcterms:created>
  <dcterms:modified xsi:type="dcterms:W3CDTF">2026-10-08T18:18:52Z</dcterms:modified>
  <cp:category/>
</cp:coreProperties>
</file>